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68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CDD0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iHRIS → DHIS2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HRH Data Mediator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Human Resources for Health Data Synchronization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0" y="4023360"/>
            <a:ext cx="3657600" cy="36576"/>
          </a:xfrm>
          <a:prstGeom prst="rect">
            <a:avLst/>
          </a:prstGeom>
          <a:solidFill>
            <a:srgbClr val="FCDD0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Health, Ethiopia  |  HISP Ethiopia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492240"/>
            <a:ext cx="9144000" cy="164592"/>
          </a:xfrm>
          <a:prstGeom prst="rect">
            <a:avLst/>
          </a:prstGeom>
          <a:solidFill>
            <a:srgbClr val="FCDD0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914400" cy="54864"/>
          </a:xfrm>
          <a:prstGeom prst="rect">
            <a:avLst/>
          </a:prstGeom>
          <a:solidFill>
            <a:srgbClr val="0068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why automate?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Mediator?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Pipeline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&amp; Dataset Mapping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Highlights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Security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914400" cy="54864"/>
          </a:xfrm>
          <a:prstGeom prst="rect">
            <a:avLst/>
          </a:prstGeom>
          <a:solidFill>
            <a:srgbClr val="00683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4023360" cy="4389120"/>
          </a:xfrm>
          <a:prstGeom prst="rect">
            <a:avLst>
              <a:gd name="adj" fmla="val 2273"/>
            </a:avLst>
          </a:prstGeom>
          <a:solidFill>
            <a:srgbClr val="FFF3E0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Manual Process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7490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officers manually exported staff lists from iHRIS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by cadre and gender in Excel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entered totals into DHIS2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 and time-consuming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DHIS2 dashboards were always out of date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for data quality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023360" cy="4389120"/>
          </a:xfrm>
          <a:prstGeom prst="rect">
            <a:avLst>
              <a:gd name="adj" fmla="val 2273"/>
            </a:avLst>
          </a:prstGeom>
          <a:solidFill>
            <a:srgbClr val="E8F5E9"/>
          </a:solidFill>
          <a:ln w="12700">
            <a:solidFill>
              <a:srgbClr val="0068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280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Automated Mediator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37490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live data directly from iHRIS FHIR API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by cadre, gender, and facility automatically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aggregate values to DHIS2 with one click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preview before committing data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 and sync history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scheduled sync (quarterly)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Mediator?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914400" cy="54864"/>
          </a:xfrm>
          <a:prstGeom prst="rect">
            <a:avLst/>
          </a:prstGeom>
          <a:solidFill>
            <a:srgbClr val="0068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Node.js / Express application that bridges two national health information systems in Ethiopia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iHRIS v5 — stores individual staff records (Practitioners &amp; PractitionerRoles) via a FHIR R4 API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DHIS2 — national health data warehouse storing aggregate HR statistics by facility, cadre, and gender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individual-level HR records → aggregates → pushes to DHIS2 datasets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on the Ethiopian Calendar (EFY — Ethiopian Fiscal Year), the MoH reporting standard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OpenHIM as a registered mediator (optional)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 manual, error-prone quarterly data entry process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914400" cy="54864"/>
          </a:xfrm>
          <a:prstGeom prst="rect">
            <a:avLst/>
          </a:prstGeom>
          <a:solidFill>
            <a:srgbClr val="006837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103120"/>
            <a:ext cx="2286000" cy="1097280"/>
          </a:xfrm>
          <a:prstGeom prst="rect">
            <a:avLst>
              <a:gd name="adj" fmla="val 8333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1031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iHRIS v5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API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06040" y="2606040"/>
            <a:ext cx="640080" cy="91440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248716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286000" cy="1645920"/>
          </a:xfrm>
          <a:prstGeom prst="rect">
            <a:avLst>
              <a:gd name="adj" fmla="val 5556"/>
            </a:avLst>
          </a:prstGeom>
          <a:solidFill>
            <a:srgbClr val="006837"/>
          </a:solidFill>
          <a:ln w="12700">
            <a:solidFill>
              <a:srgbClr val="004D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8288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Mediator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(Node.js / Express)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60720" y="2606040"/>
            <a:ext cx="640080" cy="91440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248716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0" y="2103120"/>
            <a:ext cx="2286000" cy="1097280"/>
          </a:xfrm>
          <a:prstGeom prst="rect">
            <a:avLst>
              <a:gd name="adj" fmla="val 8333"/>
            </a:avLst>
          </a:prstGeom>
          <a:solidFill>
            <a:srgbClr val="E8F5E9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1031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DHIS2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Store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System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29000" y="5029200"/>
            <a:ext cx="2286000" cy="640080"/>
          </a:xfrm>
          <a:prstGeom prst="rect">
            <a:avLst>
              <a:gd name="adj" fmla="val 14286"/>
            </a:avLst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5029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OpenHIM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 Middleware)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26280" y="3840480"/>
            <a:ext cx="91440" cy="59436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118872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(SPA — browser-based dashboard)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(Express routes)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Service (orchestration pipeline)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HRH Transform (FHIR → DHIS2 aggregation)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914400" cy="54864"/>
          </a:xfrm>
          <a:prstGeom prst="rect">
            <a:avLst/>
          </a:prstGeom>
          <a:solidFill>
            <a:srgbClr val="006837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645920"/>
            <a:ext cx="1554480" cy="2560320"/>
          </a:xfrm>
          <a:prstGeom prst="rect">
            <a:avLst>
              <a:gd name="adj" fmla="val 7059"/>
            </a:avLst>
          </a:prstGeom>
          <a:solidFill>
            <a:srgbClr val="1565C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325880"/>
            <a:ext cx="457200" cy="457200"/>
          </a:xfrm>
          <a:prstGeom prst="ellipse">
            <a:avLst/>
          </a:prstGeom>
          <a:solidFill>
            <a:srgbClr val="FCDD09"/>
          </a:solidFill>
          <a:ln w="12700">
            <a:solidFill>
              <a:srgbClr val="FCDD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" y="2468880"/>
            <a:ext cx="14081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DHIS2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UIDs are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01368" y="26517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11680" y="1645920"/>
            <a:ext cx="1554480" cy="2560320"/>
          </a:xfrm>
          <a:prstGeom prst="rect">
            <a:avLst>
              <a:gd name="adj" fmla="val 7059"/>
            </a:avLst>
          </a:prstGeom>
          <a:solidFill>
            <a:srgbClr val="00695C"/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0" y="1325880"/>
            <a:ext cx="457200" cy="457200"/>
          </a:xfrm>
          <a:prstGeom prst="ellipse">
            <a:avLst/>
          </a:prstGeom>
          <a:solidFill>
            <a:srgbClr val="FCDD09"/>
          </a:solidFill>
          <a:ln w="12700">
            <a:solidFill>
              <a:srgbClr val="FCDD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11680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Org Units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84832" y="2468880"/>
            <a:ext cx="14081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DHIS2 org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map + gender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option combos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84448" y="26517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94760" y="1645920"/>
            <a:ext cx="1554480" cy="2560320"/>
          </a:xfrm>
          <a:prstGeom prst="rect">
            <a:avLst>
              <a:gd name="adj" fmla="val 7059"/>
            </a:avLst>
          </a:prstGeom>
          <a:solidFill>
            <a:srgbClr val="7B1FA2"/>
          </a:solidFill>
          <a:ln/>
        </p:spPr>
      </p:sp>
      <p:sp>
        <p:nvSpPr>
          <p:cNvPr id="17" name="Shape 15"/>
          <p:cNvSpPr/>
          <p:nvPr/>
        </p:nvSpPr>
        <p:spPr>
          <a:xfrm>
            <a:off x="4343400" y="1325880"/>
            <a:ext cx="457200" cy="457200"/>
          </a:xfrm>
          <a:prstGeom prst="ellipse">
            <a:avLst/>
          </a:prstGeom>
          <a:solidFill>
            <a:srgbClr val="FCDD09"/>
          </a:solidFill>
          <a:ln w="12700">
            <a:solidFill>
              <a:srgbClr val="FCDD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94760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(Pass 1)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67912" y="2468880"/>
            <a:ext cx="14081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all iHRIS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PractitionerRoles —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practitioner IDs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67528" y="26517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577840" y="1645920"/>
            <a:ext cx="1554480" cy="2560320"/>
          </a:xfrm>
          <a:prstGeom prst="rect">
            <a:avLst>
              <a:gd name="adj" fmla="val 7059"/>
            </a:avLst>
          </a:prstGeom>
          <a:solidFill>
            <a:srgbClr val="006837"/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0" y="1325880"/>
            <a:ext cx="457200" cy="457200"/>
          </a:xfrm>
          <a:prstGeom prst="ellipse">
            <a:avLst/>
          </a:prstGeom>
          <a:solidFill>
            <a:srgbClr val="FCDD09"/>
          </a:solidFill>
          <a:ln w="12700">
            <a:solidFill>
              <a:srgbClr val="FCDD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(Pass 2)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50992" y="2468880"/>
            <a:ext cx="14081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Re-stream roles +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gender —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each page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50608" y="26517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60920" y="1645920"/>
            <a:ext cx="1554480" cy="2560320"/>
          </a:xfrm>
          <a:prstGeom prst="rect">
            <a:avLst>
              <a:gd name="adj" fmla="val 7059"/>
            </a:avLst>
          </a:prstGeom>
          <a:solidFill>
            <a:srgbClr val="E65100"/>
          </a:solidFill>
          <a:ln/>
        </p:spPr>
      </p:sp>
      <p:sp>
        <p:nvSpPr>
          <p:cNvPr id="29" name="Shape 27"/>
          <p:cNvSpPr/>
          <p:nvPr/>
        </p:nvSpPr>
        <p:spPr>
          <a:xfrm>
            <a:off x="7909560" y="1325880"/>
            <a:ext cx="457200" cy="457200"/>
          </a:xfrm>
          <a:prstGeom prst="ellipse">
            <a:avLst/>
          </a:prstGeom>
          <a:solidFill>
            <a:srgbClr val="FCDD09"/>
          </a:solidFill>
          <a:ln w="12700">
            <a:solidFill>
              <a:srgbClr val="FCDD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95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60920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DHIS2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34072" y="2468880"/>
            <a:ext cx="14081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all dataset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payloads in parallel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(async import)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64008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Calendar (EFY) period is automatically converted to Gregorian date range for filtering iHRIS role dates.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Cadre Mapping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914400" cy="54864"/>
          </a:xfrm>
          <a:prstGeom prst="rect">
            <a:avLst/>
          </a:prstGeom>
          <a:solidFill>
            <a:srgbClr val="0068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iHRIS job titles (PractitionerRole.code) are mapped to 7 DHIS2 cadre groups by keyword matching: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486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DHIS2 Cadre 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iHRIS Job Title Keywords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3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Midwives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midwif (midwife, midwifery…)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nurse, nursing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Physicians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doctor, general practitioner, physician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Officers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officer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Extension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extension, family health, level iv hew, hew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 surgical, eso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Health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Catch-all — anesthesia, pharmacy, lab, radiology, admin…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DHIS2 Dataset Configuration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914400" cy="54864"/>
          </a:xfrm>
          <a:prstGeom prst="rect">
            <a:avLst/>
          </a:prstGeom>
          <a:solidFill>
            <a:srgbClr val="0068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mediator supports 8 DHIS2 HR datasets across facility and administrative levels: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84124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286000"/>
                <a:gridCol w="28346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DHIS2 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Element Prefix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Health Post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DE_*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 Health Post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DE_*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Center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DE_*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DE_*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DE_*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Woreda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— Woreda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DE_WOREDA_*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— Zone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DE_ZONE_*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— Region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DE_REGION_*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64008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org unit in DHIS2 is automatically assigned to one dataset based on its HR dataset membership.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Metrics Tracked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914400" cy="54864"/>
          </a:xfrm>
          <a:prstGeom prst="rect">
            <a:avLst/>
          </a:prstGeom>
          <a:solidFill>
            <a:srgbClr val="0068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facility × cadre × gender combination, the mediator computes 4 metrics per reporting period: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4023360" cy="2011680"/>
          </a:xfrm>
          <a:prstGeom prst="rect">
            <a:avLst>
              <a:gd name="adj" fmla="val 5455"/>
            </a:avLst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7830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of Year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DE_*_BEGINNING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5603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present at the start of the period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(hired before period start, not yet departed)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45920"/>
            <a:ext cx="4023360" cy="2011680"/>
          </a:xfrm>
          <a:prstGeom prst="rect">
            <a:avLst>
              <a:gd name="adj" fmla="val 5455"/>
            </a:avLst>
          </a:prstGeom>
          <a:solidFill>
            <a:srgbClr val="006837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7830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(End of Year)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194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DE_*_END_OF_YEAR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25603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currently active with no end date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their PractitionerRole (Use Case P2-02)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4023360" cy="2011680"/>
          </a:xfrm>
          <a:prstGeom prst="rect">
            <a:avLst>
              <a:gd name="adj" fmla="val 5455"/>
            </a:avLst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0690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Institution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" y="4480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DE_*_LEAVING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whose role ended within the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 (Use Case P2-03)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931920"/>
            <a:ext cx="4023360" cy="2011680"/>
          </a:xfrm>
          <a:prstGeom prst="rect">
            <a:avLst>
              <a:gd name="adj" fmla="val 5455"/>
            </a:avLst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40690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4480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DE_*_RECRUITED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48463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whose role started within the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 (Use Case P2-04)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914400" cy="54864"/>
          </a:xfrm>
          <a:prstGeom prst="rect">
            <a:avLst/>
          </a:prstGeom>
          <a:solidFill>
            <a:srgbClr val="006837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95528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8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HRH Sync — FHIR PractitionerRoles → DHIS2 aggregate dataValueSets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8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 Run / Approval Gate — preview before committing data to DHIS2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8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Log Streaming — live server logs in the browser via Server-Sent Events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8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DHIS2 Verification — query DHIS2 directly to confirm data landed correctly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8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History — last 100 sync runs with status, counts, and timing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8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Ethiopian Calendar Support — EFY periods automatically converted to Gregorian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8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OpenHIM Integration — registers as a mediator with heartbeat monitoring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8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Sync — optional quarterly cron job (configurable)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8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Mapping Override — JSON config for facilities not yet linked in iHRIS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8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 Disaggregation — all counts split by Male / Female category option combos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Highlights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914400" cy="54864"/>
          </a:xfrm>
          <a:prstGeom prst="rect">
            <a:avLst/>
          </a:prstGeom>
          <a:solidFill>
            <a:srgbClr val="00683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2697480" cy="2103120"/>
          </a:xfrm>
          <a:prstGeom prst="rect">
            <a:avLst>
              <a:gd name="adj" fmla="val 4348"/>
            </a:avLst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Two-Pass Streaming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are processed page-by-page — only one page lives in memory at a time. Pages are garbage-collected immediately after transform. Peak memory is bounded regardless of dataset size.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18688" y="1188720"/>
            <a:ext cx="2697480" cy="2103120"/>
          </a:xfrm>
          <a:prstGeom prst="rect">
            <a:avLst>
              <a:gd name="adj" fmla="val 4348"/>
            </a:avLst>
          </a:prstGeom>
          <a:solidFill>
            <a:srgbClr val="00695C"/>
          </a:solidFill>
          <a:ln/>
        </p:spPr>
      </p:sp>
      <p:sp>
        <p:nvSpPr>
          <p:cNvPr id="8" name="Text 6"/>
          <p:cNvSpPr/>
          <p:nvPr/>
        </p:nvSpPr>
        <p:spPr>
          <a:xfrm>
            <a:off x="3310128" y="1280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Gender Fetch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10128" y="173736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scanning all 400K+ practitioners, only the IDs referenced in roles are fetched in concurrent batches. Reduces gender fetch time from ~7 hours to ~50 minutes on the full Ethiopia dataset.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71616" y="1188720"/>
            <a:ext cx="2697480" cy="2103120"/>
          </a:xfrm>
          <a:prstGeom prst="rect">
            <a:avLst>
              <a:gd name="adj" fmla="val 4348"/>
            </a:avLst>
          </a:prstGeom>
          <a:solidFill>
            <a:srgbClr val="006837"/>
          </a:solidFill>
          <a:ln/>
        </p:spPr>
      </p:sp>
      <p:sp>
        <p:nvSpPr>
          <p:cNvPr id="11" name="Text 9"/>
          <p:cNvSpPr/>
          <p:nvPr/>
        </p:nvSpPr>
        <p:spPr>
          <a:xfrm>
            <a:off x="6163056" y="1280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Dataset Push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63056" y="173736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DHIS2 dataset payloads are submitted simultaneously with Promise.allSettled. Total push time = slowest single dataset, not the sum of all datasets.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2697480" cy="2103120"/>
          </a:xfrm>
          <a:prstGeom prst="rect">
            <a:avLst>
              <a:gd name="adj" fmla="val 4348"/>
            </a:avLst>
          </a:prstGeom>
          <a:solidFill>
            <a:srgbClr val="7B1FA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66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_elements Projection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6 fields needed by the transform are requested from iHRIS (id, active, location, practitioner, code, period). Reduces per-resource payload by ~90%, cutting bandwidth and parse time.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18688" y="3474720"/>
            <a:ext cx="2697480" cy="2103120"/>
          </a:xfrm>
          <a:prstGeom prst="rect">
            <a:avLst>
              <a:gd name="adj" fmla="val 4348"/>
            </a:avLst>
          </a:prstGeom>
          <a:solidFill>
            <a:srgbClr val="E65100"/>
          </a:solidFill>
          <a:ln/>
        </p:spPr>
      </p:sp>
      <p:sp>
        <p:nvSpPr>
          <p:cNvPr id="17" name="Text 15"/>
          <p:cNvSpPr/>
          <p:nvPr/>
        </p:nvSpPr>
        <p:spPr>
          <a:xfrm>
            <a:off x="3310128" y="3566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_offset Pagination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10128" y="402336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HAPI FHIR token-based pagination (_getpages) is unreliable on production — search state expires between pages. Explicit _offset pagination fetches directly from the DB every time, eliminating empty-page failures.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71616" y="3474720"/>
            <a:ext cx="2697480" cy="2103120"/>
          </a:xfrm>
          <a:prstGeom prst="rect">
            <a:avLst>
              <a:gd name="adj" fmla="val 4348"/>
            </a:avLst>
          </a:prstGeom>
          <a:solidFill>
            <a:srgbClr val="0D3C6E"/>
          </a:solidFill>
          <a:ln/>
        </p:spPr>
      </p:sp>
      <p:sp>
        <p:nvSpPr>
          <p:cNvPr id="20" name="Text 18"/>
          <p:cNvSpPr/>
          <p:nvPr/>
        </p:nvSpPr>
        <p:spPr>
          <a:xfrm>
            <a:off x="6163056" y="3566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Org Unit Cache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63056" y="402336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DHIS2 org unit map is cached for 30 minutes. Repeated syncs within a session skip the DHIS2 API call entirely.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914400" cy="54864"/>
          </a:xfrm>
          <a:prstGeom prst="rect">
            <a:avLst/>
          </a:prstGeom>
          <a:solidFill>
            <a:srgbClr val="0068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single-page application (no build step required — vanilla HTML/CSS/JS) with 5 tabs: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40080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3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control panel — period input, dry-run toggle, animated 5-step pipeline progress, last sync 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Dry-run results — dataset summaries, cadre table, per-org-unit breakdown, approve/reject bar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in DHIS2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stored data values from DHIS2 to confirm the push landed correctly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of last 100 completed syncs — period, type, status, counts, duration, timestamp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log stream (SSE) — last 300 lines on connect, color-coded levels, pause/clear controls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Options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914400" cy="54864"/>
          </a:xfrm>
          <a:prstGeom prst="rect">
            <a:avLst/>
          </a:prstGeom>
          <a:solidFill>
            <a:srgbClr val="00683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3931920" cy="2377440"/>
          </a:xfrm>
          <a:prstGeom prst="rect">
            <a:avLst>
              <a:gd name="adj" fmla="val 3846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Server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available at http://localhost:3000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 Node.js 18+ and .env configured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931920" cy="2377440"/>
          </a:xfrm>
          <a:prstGeom prst="rect">
            <a:avLst>
              <a:gd name="adj" fmla="val 3846"/>
            </a:avLst>
          </a:prstGeom>
          <a:solidFill>
            <a:srgbClr val="E8F5E9"/>
          </a:solidFill>
          <a:ln w="12700">
            <a:solidFill>
              <a:srgbClr val="0068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Docker Compose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 up -d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 OpenHIM network supported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 volume-mounted for persistence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GB RAM recommended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794760"/>
            <a:ext cx="8412480" cy="2286000"/>
          </a:xfrm>
          <a:prstGeom prst="rect">
            <a:avLst>
              <a:gd name="adj" fmla="val 4000"/>
            </a:avLst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OpenHIM Integration (Optional)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8138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REGISTER_MEDIATOR=true in .env to auto-register on startup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default channel ^/sync-hrh$ — OpenHIM routes requests without UI auth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keeps mediator visible in OpenHIM dashboard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REGISTER_MEDIATOR=false to run as a standalone server (no OpenHIM needed)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914400" cy="54864"/>
          </a:xfrm>
          <a:prstGeom prst="rect">
            <a:avLst/>
          </a:prstGeom>
          <a:solidFill>
            <a:srgbClr val="006837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852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HttpOnly, SameSite=Strict session cookie, 8-hour TTL, crypto.randomBytes(32) token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requireAuth middleware on all data endpoints — unauthenticated requests return 401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Headers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X-Content-Type-Options, X-Frame-Options, X-XSS-Protection, Referrer-Policy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iHRIS and DHIS2 credentials stored in .env — not committed to source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Invalidation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logout, on 8-hour expiry, and automatically on iHRIS 401 mid-sync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OpenHIM Trust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Requests carrying x-openhim-transactionid bypass UI auth (trusted internal network)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DHIS2 Auth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Auth over HTTPS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iHRIS Auth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Cookie-based session over HTTPS, re-authenticated automatically on expiry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CDD0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9144000" cy="164592"/>
          </a:xfrm>
          <a:prstGeom prst="rect">
            <a:avLst/>
          </a:prstGeom>
          <a:solidFill>
            <a:srgbClr val="FCDD0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2237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CDD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automated iHRIS → DHIS2 HRH data pipeline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CDD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all 7 health cadres, gender disaggregation, and 8 DHIS2 datasets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CDD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Ethiopian calendar-aware reporting (EFY)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CDD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architecture handles large datasets with bounded memory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CDD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Dry-run preview and approval gate before any DHIS2 write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CDD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OpenHIM integration and quarterly cron scheduling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CDD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Deployable locally or via Docker on shared OpenHIM network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4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035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Health, Ethiopia  |  HISP Ethiopia  |  June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2026-07-02T13:21:55Z</dcterms:created>
  <dcterms:modified xsi:type="dcterms:W3CDTF">2026-07-02T13:21:55Z</dcterms:modified>
</cp:coreProperties>
</file>